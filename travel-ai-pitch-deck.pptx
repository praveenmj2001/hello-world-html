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538728" y="914400"/>
            <a:ext cx="3291840" cy="3291840"/>
          </a:xfrm>
          <a:prstGeom prst="ellipse">
            <a:avLst/>
          </a:prstGeom>
          <a:solidFill>
            <a:srgbClr val="3D2817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95928" y="1371600"/>
            <a:ext cx="2377440" cy="2377440"/>
          </a:xfrm>
          <a:prstGeom prst="ellipse">
            <a:avLst/>
          </a:prstGeom>
          <a:solidFill>
            <a:srgbClr val="5C3A1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9784" y="1417320"/>
            <a:ext cx="109728" cy="10515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9784" y="2560320"/>
            <a:ext cx="109728" cy="1051560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0368" y="2450592"/>
            <a:ext cx="1051560" cy="109728"/>
          </a:xfrm>
          <a:prstGeom prst="rect">
            <a:avLst/>
          </a:prstGeom>
          <a:solidFill>
            <a:srgbClr val="F2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87368" y="2450592"/>
            <a:ext cx="105156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74920" y="2395728"/>
            <a:ext cx="219456" cy="219456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"/>
            <a:ext cx="25603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Prompt Engineers Hackathon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D4AF37"/>
                </a:solidFill>
                <a:latin typeface="Georgia"/>
              </a:rPr>
              <a:t>TravelAI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D4B89F"/>
                </a:solidFill>
                <a:latin typeface="Calibri Light"/>
              </a:rPr>
              <a:t>Your Personal Travel Concierge Powered by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892040"/>
            <a:ext cx="4873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B87333"/>
                </a:solidFill>
                <a:latin typeface="Calibri"/>
              </a:rPr>
              <a:t>🌍  AI-Powered Travel Planning  •  Smart Meetups  •  Spontaneous Adventures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4AF37"/>
                </a:solidFill>
                <a:latin typeface="Georgia"/>
              </a:rPr>
              <a:t>⚡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4B89F"/>
                </a:solidFill>
                <a:latin typeface="Calibri Light"/>
              </a:rPr>
              <a:t>Travel planning is broken — it's slow, disconnected, and never truly personal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474720" cy="4389120"/>
          </a:xfrm>
          <a:prstGeom prst="roundRect">
            <a:avLst/>
          </a:prstGeom>
          <a:solidFill>
            <a:srgbClr val="2A180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474720" cy="10972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/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Georgia"/>
              </a:rPr>
              <a:t>Time-Consuming Research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46120"/>
            <a:ext cx="2560320" cy="36576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4B89F"/>
                </a:solidFill>
                <a:latin typeface="Calibri"/>
              </a:rPr>
              <a:t>Hours spent browsing reviews, comparing hotels, and booking flights manually — before the trip even begins.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25880"/>
            <a:ext cx="3474720" cy="4389120"/>
          </a:xfrm>
          <a:prstGeom prst="roundRect">
            <a:avLst/>
          </a:prstGeom>
          <a:solidFill>
            <a:srgbClr val="2A180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325880"/>
            <a:ext cx="3474720" cy="10972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554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/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68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Georgia"/>
              </a:rPr>
              <a:t>Group Coordination 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8888" y="3246120"/>
            <a:ext cx="2560320" cy="36576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290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4B89F"/>
                </a:solidFill>
                <a:latin typeface="Calibri"/>
              </a:rPr>
              <a:t>Finding spots that work for everyone in a group — right WiFi, ambiance, timing, location — is a nightmare.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325880"/>
            <a:ext cx="3474720" cy="4389120"/>
          </a:xfrm>
          <a:prstGeom prst="roundRect">
            <a:avLst/>
          </a:prstGeom>
          <a:solidFill>
            <a:srgbClr val="2A180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1325880"/>
            <a:ext cx="3474720" cy="10972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554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/>
              <a:t>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68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Georgia"/>
              </a:rPr>
              <a:t>Spontaneity Isn't Easy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9952" y="3246120"/>
            <a:ext cx="2560320" cy="36576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4290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4B89F"/>
                </a:solidFill>
                <a:latin typeface="Calibri"/>
              </a:rPr>
              <a:t>Discovering a great last-minute evening activity or nearby adventure is harder than it should be.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4AF37"/>
                </a:solidFill>
                <a:latin typeface="Georgia"/>
              </a:rPr>
              <a:t>✨  The AI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4B89F"/>
                </a:solidFill>
                <a:latin typeface="Calibri Light"/>
              </a:rPr>
              <a:t>TravelAI solves all three — simultaneously — with intelligent, conversational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474720" cy="4389120"/>
          </a:xfrm>
          <a:prstGeom prst="roundRect">
            <a:avLst/>
          </a:prstGeom>
          <a:solidFill>
            <a:srgbClr val="2D1C0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47472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/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Georgia"/>
              </a:rPr>
              <a:t>Hyper-Personalization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46120"/>
            <a:ext cx="25603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4B89F"/>
                </a:solidFill>
                <a:latin typeface="Calibri"/>
              </a:rPr>
              <a:t>AI adapts to YOUR travel style with per-trip persona customization, voice input, and real-time streaming chat that feels like talking to a true concierge.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25880"/>
            <a:ext cx="3474720" cy="4389120"/>
          </a:xfrm>
          <a:prstGeom prst="roundRect">
            <a:avLst/>
          </a:prstGeom>
          <a:solidFill>
            <a:srgbClr val="2D1C0C"/>
          </a:solidFill>
          <a:ln w="1905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325880"/>
            <a:ext cx="3474720" cy="10972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554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/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68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7333"/>
                </a:solidFill>
                <a:latin typeface="Georgia"/>
              </a:rPr>
              <a:t>Smart Meetup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8888" y="3246120"/>
            <a:ext cx="2560320" cy="36576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290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4B89F"/>
                </a:solidFill>
                <a:latin typeface="Calibri"/>
              </a:rPr>
              <a:t>Tell TravelAI who's coming and what matters — it finds the perfect spot with the right WiFi, ambiance, location, and timing for every person in the group.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325880"/>
            <a:ext cx="3474720" cy="4389120"/>
          </a:xfrm>
          <a:prstGeom prst="roundRect">
            <a:avLst/>
          </a:prstGeom>
          <a:solidFill>
            <a:srgbClr val="2D1C0C"/>
          </a:solidFill>
          <a:ln w="19050">
            <a:solidFill>
              <a:srgbClr val="8BA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1325880"/>
            <a:ext cx="3474720" cy="109728"/>
          </a:xfrm>
          <a:prstGeom prst="rect">
            <a:avLst/>
          </a:prstGeom>
          <a:solidFill>
            <a:srgbClr val="8B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554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/>
              <a:t>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68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A83A"/>
                </a:solidFill>
                <a:latin typeface="Georgia"/>
              </a:rPr>
              <a:t>Spontaneous Drive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9952" y="3246120"/>
            <a:ext cx="2560320" cy="36576"/>
          </a:xfrm>
          <a:prstGeom prst="rect">
            <a:avLst/>
          </a:prstGeom>
          <a:solidFill>
            <a:srgbClr val="8B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4290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D4B89F"/>
                </a:solidFill>
                <a:latin typeface="Calibri"/>
              </a:rPr>
              <a:t>Heading out with no plan? TravelAI discovers nearby adventures, hidden gems, and last-minute experiences tailored to your mood and moment.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6035040"/>
            <a:ext cx="3657600" cy="566928"/>
          </a:xfrm>
          <a:prstGeom prst="roundRect">
            <a:avLst/>
          </a:prstGeom>
          <a:solidFill>
            <a:srgbClr val="5C3A1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6053328"/>
            <a:ext cx="3657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D4AF37"/>
                </a:solidFill>
                <a:latin typeface="Calibri"/>
              </a:rPr>
              <a:t>⚡ Powered by Claude AI + FastAPI + Real-Time Streaming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4AF37"/>
                </a:solidFill>
                <a:latin typeface="Georgia"/>
              </a:rPr>
              <a:t>🛠 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4B89F"/>
                </a:solidFill>
                <a:latin typeface="Calibri Light"/>
              </a:rPr>
              <a:t>Thoughtfully designed to make every journey extraordinary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237744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Georgia"/>
              </a:rPr>
              <a:t>Voice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B89F"/>
                </a:solidFill>
                <a:latin typeface="Calibri"/>
              </a:rPr>
              <a:t>Hands-free travel planning
with natural voice commands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280160"/>
            <a:ext cx="3657600" cy="237744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8016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4173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❤️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4630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Georgia"/>
              </a:rPr>
              <a:t>Heart Places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B89F"/>
                </a:solidFill>
                <a:latin typeface="Calibri"/>
              </a:rPr>
              <a:t>Save favorites and let AI
re-plan around what you love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657600" cy="237744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28016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4173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4630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Georgia"/>
              </a:rPr>
              <a:t>Inline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B89F"/>
                </a:solidFill>
                <a:latin typeface="Calibri"/>
              </a:rPr>
              <a:t>Live maps embedded in
chat — no app switching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840480"/>
            <a:ext cx="3657600" cy="237744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84048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776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23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Georgia"/>
              </a:rPr>
              <a:t>14-Theme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26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B89F"/>
                </a:solidFill>
                <a:latin typeface="Calibri"/>
              </a:rPr>
              <a:t>Beautiful themes from
Aurora to Desert Sand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840480"/>
            <a:ext cx="3657600" cy="237744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384048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39776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023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Georgia"/>
              </a:rPr>
              <a:t>Streaming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526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B89F"/>
                </a:solidFill>
                <a:latin typeface="Calibri"/>
              </a:rPr>
              <a:t>Real-time AI responses
with zero wait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840480"/>
            <a:ext cx="3657600" cy="237744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9872" y="384048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2" y="39776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4023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Georgia"/>
              </a:rPr>
              <a:t>Saved Trips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4526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4B89F"/>
                </a:solidFill>
                <a:latin typeface="Calibri"/>
              </a:rPr>
              <a:t>Persistent trip history
and smart re-discovery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4AF37"/>
                </a:solidFill>
                <a:latin typeface="Georgia"/>
              </a:rPr>
              <a:t>⚙️ 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4B89F"/>
                </a:solidFill>
                <a:latin typeface="Calibri Light"/>
              </a:rPr>
              <a:t>Modern, scalable architecture built for AI-first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474720" cy="5029200"/>
          </a:xfrm>
          <a:prstGeom prst="roundRect">
            <a:avLst/>
          </a:prstGeom>
          <a:solidFill>
            <a:srgbClr val="2D1C0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Georgia"/>
              </a:rPr>
              <a:t>🖥️ 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1089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B87333"/>
                </a:solidFill>
              </a:rPr>
              <a:t>▸  </a:t>
            </a:r>
            <a:r>
              <a:rPr sz="1500" b="1">
                <a:solidFill>
                  <a:srgbClr val="F0F0F0"/>
                </a:solidFill>
                <a:latin typeface="Calibri"/>
              </a:rPr>
              <a:t>Next.js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B87333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28416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B87333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NextAuth.js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B87333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B87333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Leaflet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19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B87333"/>
                </a:solidFill>
              </a:rPr>
              <a:t>▸  </a:t>
            </a:r>
            <a:r>
              <a:rPr sz="1500" b="1">
                <a:solidFill>
                  <a:srgbClr val="B87333"/>
                </a:solidFill>
                <a:latin typeface="Calibri"/>
              </a:rPr>
              <a:t>Vercel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66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80160"/>
            <a:ext cx="3474720" cy="5029200"/>
          </a:xfrm>
          <a:prstGeom prst="roundRect">
            <a:avLst/>
          </a:prstGeom>
          <a:solidFill>
            <a:srgbClr val="2D1C0C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3716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7333"/>
                </a:solidFill>
                <a:latin typeface="Georgia"/>
              </a:rPr>
              <a:t>⚙️ 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874519"/>
            <a:ext cx="3108960" cy="36576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0116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4AF37"/>
                </a:solidFill>
              </a:rPr>
              <a:t>▸  </a:t>
            </a:r>
            <a:r>
              <a:rPr sz="1500" b="1">
                <a:solidFill>
                  <a:srgbClr val="F0F0F0"/>
                </a:solidFill>
                <a:latin typeface="Calibri"/>
              </a:rPr>
              <a:t>FastAPI (Python)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70048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4AF37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SQLAlchemy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28416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4AF37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PostgreSQL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986784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4AF37"/>
                </a:solidFill>
              </a:rPr>
              <a:t>▸  </a:t>
            </a:r>
            <a:r>
              <a:rPr sz="1500" b="1">
                <a:solidFill>
                  <a:srgbClr val="B87333"/>
                </a:solidFill>
                <a:latin typeface="Calibri"/>
              </a:rPr>
              <a:t>Railway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645152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4AF37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Pydantic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03519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D4AF37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JWT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66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280160"/>
            <a:ext cx="2743200" cy="5029200"/>
          </a:xfrm>
          <a:prstGeom prst="roundRect">
            <a:avLst/>
          </a:prstGeom>
          <a:solidFill>
            <a:srgbClr val="352010"/>
          </a:solidFill>
          <a:ln w="25400">
            <a:solidFill>
              <a:srgbClr val="8BA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3716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BA83A"/>
                </a:solidFill>
                <a:latin typeface="Georgia"/>
              </a:rPr>
              <a:t>🤖  AI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874519"/>
            <a:ext cx="2377440" cy="36576"/>
          </a:xfrm>
          <a:prstGeom prst="rect">
            <a:avLst/>
          </a:prstGeom>
          <a:solidFill>
            <a:srgbClr val="8B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01168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8BA83A"/>
                </a:solidFill>
              </a:rPr>
              <a:t>▸  </a:t>
            </a:r>
            <a:r>
              <a:rPr sz="1500" b="1">
                <a:solidFill>
                  <a:srgbClr val="F0F0F0"/>
                </a:solidFill>
                <a:latin typeface="Calibri"/>
              </a:rPr>
              <a:t>Claude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78892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8BA83A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Streaming 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5661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8BA83A"/>
                </a:solidFill>
              </a:rPr>
              <a:t>▸  </a:t>
            </a:r>
            <a:r>
              <a:rPr sz="1500" b="1">
                <a:solidFill>
                  <a:srgbClr val="D4B89F"/>
                </a:solidFill>
                <a:latin typeface="Calibri"/>
              </a:rPr>
              <a:t>Tool Calling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3434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8BA83A"/>
                </a:solidFill>
              </a:rPr>
              <a:t>▸  </a:t>
            </a:r>
            <a:r>
              <a:rPr sz="1500" b="1">
                <a:solidFill>
                  <a:srgbClr val="D4AF37"/>
                </a:solidFill>
                <a:latin typeface="Calibri"/>
              </a:rPr>
              <a:t>Persona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6080760"/>
            <a:ext cx="5486400" cy="530352"/>
          </a:xfrm>
          <a:prstGeom prst="roundRect">
            <a:avLst/>
          </a:prstGeom>
          <a:solidFill>
            <a:srgbClr val="3D2817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60990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87333"/>
                </a:solidFill>
                <a:latin typeface="Calibri"/>
              </a:rPr>
              <a:t>🔒 Security: Bandit • Semgrep • Gitleaks  |  📦 CI/CD: GitHub Actions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4AF37"/>
                </a:solidFill>
                <a:latin typeface="Georgia"/>
              </a:rPr>
              <a:t>🚀  Next Steps &amp;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4B89F"/>
                </a:solidFill>
                <a:latin typeface="Calibri Light"/>
              </a:rPr>
              <a:t>From hackathon prototype to market-ready travel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94960" cy="5212080"/>
          </a:xfrm>
          <a:prstGeom prst="roundRect">
            <a:avLst/>
          </a:prstGeom>
          <a:solidFill>
            <a:srgbClr val="2A180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9496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Georgia"/>
              </a:rPr>
              <a:t>📅  Short-Term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Continue active development &amp; iteration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50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Polish UX, add offline mode, mobile-first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Integrate with travel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5643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Booking.com, Airbnb, Google Places, TripAdvisor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Multi-user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6227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Shared trip planning and group voting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206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20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Mobile app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681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Native iOS &amp; Android apps with push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280160"/>
            <a:ext cx="5696712" cy="5212080"/>
          </a:xfrm>
          <a:prstGeom prst="roundRect">
            <a:avLst/>
          </a:prstGeom>
          <a:solidFill>
            <a:srgbClr val="2D1C0C"/>
          </a:solidFill>
          <a:ln w="1905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280160"/>
            <a:ext cx="5696712" cy="9144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B87333"/>
                </a:solidFill>
                <a:latin typeface="Georgia"/>
              </a:rPr>
              <a:t>💰  Revenue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1031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1031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Transaction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450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Commission on hotel, flight &amp; activity bookings made through TravelAI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108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Premium Targeted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456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Context-aware advertising from travel brands, restaurants, and local businesses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14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148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Premium Subscription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4622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Enhanced AI features, unlimited trips, priority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1206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4B89F"/>
                </a:solidFill>
                <a:latin typeface="Calibri"/>
              </a:rPr>
              <a:t>B2B Licensing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468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856E"/>
                </a:solidFill>
                <a:latin typeface="Calibri"/>
              </a:rPr>
              <a:t>White-label travel concierge API for travel agencies &amp; corporates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4248" y="1143000"/>
            <a:ext cx="4572000" cy="4572000"/>
          </a:xfrm>
          <a:prstGeom prst="ellipse">
            <a:avLst/>
          </a:prstGeom>
          <a:solidFill>
            <a:srgbClr val="281808"/>
          </a:solidFill>
          <a:ln w="12700">
            <a:solidFill>
              <a:srgbClr val="4D3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24328" y="1783080"/>
            <a:ext cx="3291840" cy="3291840"/>
          </a:xfrm>
          <a:prstGeom prst="ellipse">
            <a:avLst/>
          </a:prstGeom>
          <a:solidFill>
            <a:srgbClr val="32200E"/>
          </a:solidFill>
          <a:ln w="12700">
            <a:solidFill>
              <a:srgbClr val="5C4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400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D4AF37"/>
                </a:solidFill>
                <a:latin typeface="Georgia"/>
              </a:rPr>
              <a:t>Let's Build the Future of Travel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08760"/>
            <a:ext cx="6702552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4B89F"/>
                </a:solidFill>
                <a:latin typeface="Calibri Light"/>
              </a:rPr>
              <a:t>TravelAI — Where every journey starts with a conversation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2377440"/>
            <a:ext cx="3657600" cy="777240"/>
          </a:xfrm>
          <a:prstGeom prst="roundRect">
            <a:avLst/>
          </a:prstGeom>
          <a:solidFill>
            <a:srgbClr val="D4AF37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237744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D2817"/>
                </a:solidFill>
                <a:latin typeface="Calibri"/>
              </a:rPr>
              <a:t>🌐  Live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6248" y="2377440"/>
            <a:ext cx="3657600" cy="777240"/>
          </a:xfrm>
          <a:prstGeom prst="roundRect">
            <a:avLst/>
          </a:prstGeom>
          <a:solidFill>
            <a:srgbClr val="5C3A1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37744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Calibri"/>
              </a:rPr>
              <a:t>💻  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0040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87333"/>
                </a:solidFill>
                <a:latin typeface="Calibri"/>
              </a:rPr>
              <a:t>travel-planner-ashen-pi.vercel.app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87333"/>
                </a:solidFill>
                <a:latin typeface="Calibri"/>
              </a:rPr>
              <a:t>github.com/praveenmj2001/TravelAgent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1274552" cy="1371600"/>
          </a:xfrm>
          <a:prstGeom prst="roundRect">
            <a:avLst/>
          </a:prstGeom>
          <a:solidFill>
            <a:srgbClr val="2A180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1596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Claude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D4B89F"/>
                </a:solidFill>
                <a:latin typeface="Calibri"/>
              </a:rPr>
              <a:t>Powered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79" y="3977639"/>
            <a:ext cx="18288" cy="109728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599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599" y="431596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Real-Time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599" y="459028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D4B89F"/>
                </a:solidFill>
                <a:latin typeface="Calibri"/>
              </a:rPr>
              <a:t>Streaming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3977639"/>
            <a:ext cx="18288" cy="109728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19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🗺️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431596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Inline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459028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D4B89F"/>
                </a:solidFill>
                <a:latin typeface="Calibri"/>
              </a:rPr>
              <a:t>&amp; Navigation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19" y="3977639"/>
            <a:ext cx="18288" cy="109728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39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39" y="431596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9" y="459028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D4B89F"/>
                </a:solidFill>
                <a:latin typeface="Calibri"/>
              </a:rPr>
              <a:t>Enabled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39" y="3977639"/>
            <a:ext cx="18288" cy="109728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59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31596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Persistent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459028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D4B89F"/>
                </a:solidFill>
                <a:latin typeface="Calibri"/>
              </a:rPr>
              <a:t>Trip Memory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3977639"/>
            <a:ext cx="18288" cy="109728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431596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14 Themes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459028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D4B89F"/>
                </a:solidFill>
                <a:latin typeface="Calibri"/>
              </a:rPr>
              <a:t>Available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39496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Georgia"/>
              </a:rPr>
              <a:t>🧭  Thank you — Questions &amp; Discussion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A624C"/>
                </a:solidFill>
                <a:latin typeface="Calibri"/>
              </a:rPr>
              <a:t>Built with ❤️ for Prompt Engineers Hackathon Spring 2026  |  @praveenmj2001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